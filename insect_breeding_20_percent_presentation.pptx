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accent3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097280" y="1097280"/>
            <a:ext cx="10058400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D69E2E"/>
                </a:solidFill>
                <a:latin typeface="Arial"/>
              </a:defRPr>
            </a:pPr>
            <a:r>
              <a:rPr dirty="0"/>
              <a:t>DATA SCIEN</a:t>
            </a:r>
            <a:r>
              <a:rPr lang="en-US" dirty="0"/>
              <a:t>CE </a:t>
            </a:r>
            <a:r>
              <a:rPr dirty="0"/>
              <a:t>PROJECT • REVIEW 1 </a:t>
            </a:r>
          </a:p>
          <a:p>
            <a:pPr>
              <a:spcAft>
                <a:spcPts val="140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rPr dirty="0"/>
              <a:t>Data-Driven Optimization of Selective Breeding in Insects for Aquafeed and Livestock Feed Production</a:t>
            </a:r>
          </a:p>
          <a:p>
            <a:pPr>
              <a:defRPr sz="1600">
                <a:solidFill>
                  <a:srgbClr val="CBD5E1"/>
                </a:solidFill>
                <a:latin typeface="Calibri"/>
              </a:defRPr>
            </a:pPr>
            <a:r>
              <a:rPr dirty="0"/>
              <a:t>A Stochastic Quantitative Genetics Simulation Pipeline for Larval Yield Optimization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97280" y="4297680"/>
            <a:ext cx="4754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4480560"/>
            <a:ext cx="420624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8540"/>
                </a:solidFill>
              </a:defRPr>
            </a:pPr>
            <a:r>
              <a:rPr dirty="0"/>
              <a:t>STUDENT DETAILS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lang="en-US" dirty="0"/>
              <a:t>Bruno-25BDS1212,Navaneeth </a:t>
            </a:r>
            <a:r>
              <a:rPr lang="en-US" dirty="0" err="1"/>
              <a:t>Plamparamp</a:t>
            </a:r>
            <a:r>
              <a:rPr lang="en-US" dirty="0"/>
              <a:t> Biju-25BDS1176,Nived Viswan-25BDS1057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6217920" y="4297680"/>
            <a:ext cx="4754880" cy="1828800"/>
          </a:xfrm>
          <a:prstGeom prst="roundRect">
            <a:avLst/>
          </a:prstGeom>
          <a:solidFill>
            <a:srgbClr val="1E293B"/>
          </a:solidFill>
          <a:ln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92240" y="4480560"/>
            <a:ext cx="420624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69E2E"/>
                </a:solidFill>
              </a:defRPr>
            </a:pPr>
            <a:r>
              <a:rPr dirty="0"/>
              <a:t>GUIDE DETAILS</a:t>
            </a:r>
          </a:p>
          <a:p>
            <a:pPr>
              <a:defRPr sz="1100">
                <a:solidFill>
                  <a:srgbClr val="FFFFFF"/>
                </a:solidFill>
              </a:defRPr>
            </a:pPr>
            <a:r>
              <a:rPr dirty="0"/>
              <a:t>• Project Guide: [</a:t>
            </a:r>
            <a:r>
              <a:rPr lang="en-US" dirty="0" err="1"/>
              <a:t>Dr.J</a:t>
            </a:r>
            <a:r>
              <a:rPr lang="en-US" dirty="0"/>
              <a:t> Kulandai Josephine Julina</a:t>
            </a:r>
            <a:r>
              <a:rPr dirty="0"/>
              <a:t>]</a:t>
            </a:r>
            <a:br>
              <a:rPr dirty="0"/>
            </a:br>
            <a:r>
              <a:rPr dirty="0"/>
              <a:t>• </a:t>
            </a:r>
            <a:r>
              <a:rPr dirty="0" err="1"/>
              <a:t>Department:</a:t>
            </a:r>
            <a:r>
              <a:rPr lang="en-US" dirty="0" err="1"/>
              <a:t>SCOPE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rPr dirty="0"/>
              <a:t>Presentation 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90600" y="2209308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rPr dirty="0"/>
              <a:t>FOUNDATIONS &amp; PROBLEM FORMULATION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1. Problem Introduction &amp; Global Context</a:t>
            </a:r>
            <a:br>
              <a:rPr dirty="0"/>
            </a:br>
            <a:r>
              <a:rPr dirty="0"/>
              <a:t>    • Feed supply crisis, wild catch limits &amp; insect protein solution.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2. Literature Survey &amp; Theoretical Background</a:t>
            </a:r>
            <a:br>
              <a:rPr dirty="0"/>
            </a:br>
            <a:r>
              <a:rPr dirty="0"/>
              <a:t>    • Quantitative genetics, Falconer infinitesimal model, half-sib designs.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3. Key Challenges &amp; Identified Research Gap</a:t>
            </a:r>
            <a:br>
              <a:rPr dirty="0"/>
            </a:br>
            <a:r>
              <a:rPr dirty="0"/>
              <a:t>    • Micro-environmental noise, inbreeding risks, lack of insect tools.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4. Project Objectives (20% Milestone vs. Full Scope)</a:t>
            </a:r>
            <a:br>
              <a:rPr dirty="0"/>
            </a:br>
            <a:r>
              <a:rPr dirty="0"/>
              <a:t>    • The Walking Skeleton: stochastic simulation and statistical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0" y="2209308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rPr dirty="0"/>
              <a:t>METHODOLOGY, RESULTS &amp; DEMONSTRATION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5. Proposed Methodology &amp; Mathematical Framework</a:t>
            </a:r>
            <a:br>
              <a:rPr dirty="0"/>
            </a:br>
            <a:r>
              <a:rPr dirty="0"/>
              <a:t>    • Nested pedigree schema, paternal ANOVA, Breeder's Equation, Ne.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6. System Architecture &amp; Modular Implementation</a:t>
            </a:r>
            <a:br>
              <a:rPr dirty="0"/>
            </a:br>
            <a:r>
              <a:rPr dirty="0"/>
              <a:t>    • Decoupled Python architecture, config engine, test pipeline.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7. Initial Implementation &amp; 20% Demonstration</a:t>
            </a:r>
            <a:br>
              <a:rPr dirty="0"/>
            </a:br>
            <a:r>
              <a:rPr dirty="0"/>
              <a:t>    • Live main.py execution, 15-generation larval gain (+30.1 mg).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8. Empirical Results, Verification &amp; Next Milestones</a:t>
            </a:r>
            <a:br>
              <a:rPr dirty="0"/>
            </a:br>
            <a:r>
              <a:rPr dirty="0"/>
              <a:t>    • Unit tests (4/4 passed), ANOVA h² recovery proof, Phase 2 roadmap.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rPr dirty="0"/>
              <a:t>Introduction: Sustainable Protein &amp; Insect Breeding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68275" y="19202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rPr dirty="0"/>
              <a:t>The Feed Protein Crisis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Global animal feed demand is projected to double by 2050 to sustain aquaculture and livestock.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Traditional protein sources—fishmeal and soymeal—cause severe ocean depletion and deforestation.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Feed represents 60% to 70% of total operational costs in modern commercial aquaculture.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9202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Insects as Protein Bio-factories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Black Soldier Fly (Hermetia illucens) and Mealworm (Tenebrio molitor) are high-efficiency converters.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Larvae convert agro-industrial waste into biomass with 40-45% crude protein and balanced amino acids.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High fecundity (500-1,000 eggs/female) and short lifecycle (4-6 weeks) enable rapid mass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92024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The Selective Breeding Imperative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Commercial insect facilities currently rely on unselected wild strains with high yield variance.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Physical breeding takes 1-2 years per line. Data-driven simulation models selection in seconds.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Goal: Optimize larval harvest body weight (+15% to +30%) through computational genetics.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rPr dirty="0"/>
              <a:t>Literature Survey: Quantitative Genetics &amp; Insect Selection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21945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Van Huis et al. (2013) - FAO Forestry Paper 171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Seminal study establishing edible insects as viable food and feed security solutions.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Key Finding: Lack of standardized selective breeding and genetic management identified as the single largest bottleneck for industrial-scale insect farming.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219456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737360"/>
            <a:ext cx="475488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Falconer &amp; Mackay (1996) / Lynch &amp; Walsh (1998)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Foundational treatises establishing the Infinitesimal Model of quantitative traits: P = μ + A + E.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Formulated Expected Mean Squares (EMS) for nested half-sib/full-sib mating designs to isolate additive genetic variance from non-genetic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21208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420624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De Smet et al. (2018) &amp; Jensen et al. (2020) - BSF Genetics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Empirical evaluations of Black Soldier Fly populations under controlled conditions.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Reported moderate narrow-sense heritability for larval body weight (h² = 0.25 to 0.42), proving substantial additive genetic potential for directional mass selection.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4206240"/>
            <a:ext cx="475488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Burt &amp; Bell (1987) / Bentsen (1994) - Mating Topologies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Demonstrated that maternal clutch effects (c²) severely confound simple parent-offspring regression in high-fecundity species.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Proved that paternal half-sib variance components offer unbiased additive variance estimates.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rPr dirty="0"/>
              <a:t>Challenges &amp; Identified Research Gaps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3832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1. Micro-Environmental Noise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Mass insect rearing involves dense feeding trays where food clustering and moisture create massive noise.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True heritability is moderate (h² ≈ 0.30); ~70% of weight differences are environmental luck.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Gap: Selecting parents purely by raw physical weight selects 'lucky' bugs rather than superior DNA.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554480"/>
            <a:ext cx="33832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6177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2. Inbreeding Depression Vulnerability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Insects produce large egg clutches (500+ eggs), tempting breeders to select few elite lines.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Intense selection rapidly shrinks Effective Population Size (Ne), accelerating inbreeding rate (ΔF = 1/2Ne).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Gap: Lack of quantitative monitoring leads to inbreeding depression, egg infertility, and colony collapse.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3832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75320" y="1737360"/>
            <a:ext cx="29260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3. Absence of Insect Toolkits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Livestock industries rely on commercial proprietary tools (ASReml, BLUPF90) built for cattle/swine.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No lightweight, open-source Python simulation frameworks exist specifically tailored for insect breeding.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Gap: High cost and complexity prevent insect bio-startups from testing selective breeding strategies.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rPr dirty="0"/>
              <a:t>Project Objectives: Full Scope vs. 20% Milestone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9202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20% MILESTONE OBJECTIVES (DELIVERED)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[COMPLETED] Nested Pedigree Architecture: Model 1,200 insects/gen across 20 sires × 3 dams.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[COMPLETED] Infinitesimal Trait Modeling: Stochastic generation of larval weight (P = μ + A + E, h² = 0.30).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[COMPLETED] ANOVA Variance Engine: One-way ANOVA to isolate sire variance and recover true heritability.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[COMPLETED] 20% Truncation Selection: Rank via Estimated Breeding Value (EBV); validate Breeder's Eq (R = h²S).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[COMPLETED] Inbreeding &amp; Diversity Tracking: Calculate Ne and track cumulative inbreeding (F) over 15 generations.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[COMPLETED] Automated Verification: 100% passing test suite and automated figure generation.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92024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rPr dirty="0"/>
              <a:t>FUTURE MILESTONE ROADMAP (40% - 100%)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[Milestone 2 - 40%] Strategy Optimization: Implement and benchmark Individual EBV vs. Family EBV vs. Combined Selection Index; sweep selection intensity (10% to 30%).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[Milestone 3 - 60%] Multi-Trait Breeding: Incorporate Crude Protein Content (%) with genetic covariance (</a:t>
            </a:r>
            <a:r>
              <a:rPr dirty="0" err="1"/>
              <a:t>rg</a:t>
            </a:r>
            <a:r>
              <a:rPr dirty="0"/>
              <a:t>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[Milestone 4 - 80%] Bio-Economic Feed Optimization: Translate genetic progress into $/ton aquafeed cost savings; develop interactive </a:t>
            </a:r>
            <a:r>
              <a:rPr dirty="0" err="1"/>
              <a:t>Streamlit</a:t>
            </a:r>
            <a:r>
              <a:rPr dirty="0"/>
              <a:t> UI for farm managers.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[Milestone 5 - 100%] Sensitivity Analysis, Academic Paper &amp; Production Deployment.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rPr dirty="0"/>
              <a:t>Proposed Methodology &amp;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MATHEMATICAL &amp; GENETIC FORMULATION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Phenotype Generation: P_i = μ + A_i + E_i (μ = 200 mg, σ_A² = 9.0, σ_E² = 21.0, h² = 0.30)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Mendelian Inheritance: A_offspring = 0.5*A_sire + 0.5*A_dam + N(0, 0.5*σ_A²)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Sire ANOVA Decomposition: σ_s² = (MS_sire - MS_within) / k1  ==&gt;  h²_est = 4*σ_s² / σ_P²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Breeding Value Estimation: EBV_i = h²_est * (P_i - P_mean)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Breeder's Equation: Forecast Response R = h² * S, where S = P_selected - P_population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Inbreeding Dynamics: Ne = (4*N_s*N_d)/(N_s + N_d) = 60.0  ==&gt;  ΔF = 1/(2*Ne) = 0.83%/gen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554480"/>
            <a:ext cx="5212080" cy="4754880"/>
          </a:xfrm>
          <a:prstGeom prst="roundRect">
            <a:avLst/>
          </a:prstGeom>
          <a:solidFill>
            <a:srgbClr val="F7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46520" y="1737360"/>
            <a:ext cx="47548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t>MODULAR SOFTWARE ARCHITECTURE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config.py: Centralized parameter dataclass (pop size, variances, seeds).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simulation/ (population.py, traits.py): Nested pedigree DataFrame and trait generator.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genetics/ (heritability.py, breeding_value.py): ANOVA expected mean squares &amp; EBV scoring.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selection/ (select.py, mating.py): Truncation ranking and random nested sire-dam pairing.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metrics/ (gain.py, inbreeding.py): Genetic gain calculations and inbreeding accumulator.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t>•  visualization/ (plots.py): Automated publication-grade matplotlib renderer (300 DPI).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4924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2E8540"/>
                </a:solidFill>
                <a:latin typeface="Arial"/>
              </a:defRPr>
            </a:pPr>
            <a:endParaRPr dirty="0"/>
          </a:p>
          <a:p>
            <a:pPr>
              <a:defRPr sz="2200" b="1">
                <a:solidFill>
                  <a:srgbClr val="1A365D"/>
                </a:solidFill>
                <a:latin typeface="Arial"/>
              </a:defRPr>
            </a:pPr>
            <a:r>
              <a:rPr dirty="0"/>
              <a:t>Results: Initial Implementation &amp; 20% Prototype Demo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21860"/>
            <a:ext cx="10152789" cy="475488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E85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07691" y="1920240"/>
            <a:ext cx="45720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A365D"/>
                </a:solidFill>
                <a:latin typeface="Arial"/>
              </a:defRPr>
            </a:pPr>
            <a:r>
              <a:rPr dirty="0"/>
              <a:t>EMPIRICAL OUTCOMES &amp; VERIFICATION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Prototype Verification: main.py simulated 15 generations (18,000 larvae) in &lt; 2 seconds.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Statistical Validation: ANOVA recovered h² = 0.30 ± 0.07 across repeated Monte Carlo trials.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Phenotypic &amp; Genetic Gain: Mean body weight increased from 199.7 mg to 229.5 mg (+30.1 mg gain).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Theoretical Alignment: Cumulative realized gain (+30.1 mg) closely tracks Breeder's Equation (+37.7 mg).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Genetic Diversity: Cumulative inbreeding reached F = 11.8% (Ne = 60.0), validating diversity bounds.</a:t>
            </a:r>
          </a:p>
          <a:p>
            <a:pPr>
              <a:spcAft>
                <a:spcPts val="600"/>
              </a:spcAft>
              <a:defRPr sz="1150">
                <a:solidFill>
                  <a:srgbClr val="2D3748"/>
                </a:solidFill>
                <a:latin typeface="Calibri"/>
              </a:defRPr>
            </a:pPr>
            <a:r>
              <a:rPr dirty="0"/>
              <a:t>•  Software Quality: 4/4 automated </a:t>
            </a:r>
            <a:r>
              <a:rPr dirty="0" err="1"/>
              <a:t>Pytest</a:t>
            </a:r>
            <a:r>
              <a:rPr dirty="0"/>
              <a:t> test cases passed (100% test pass rate).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1528</Words>
  <Application>Microsoft Office PowerPoint</Application>
  <PresentationFormat>Widescreen</PresentationFormat>
  <Paragraphs>94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Bruno Sanjay</cp:lastModifiedBy>
  <cp:revision>5</cp:revision>
  <dcterms:created xsi:type="dcterms:W3CDTF">2013-01-27T09:14:16Z</dcterms:created>
  <dcterms:modified xsi:type="dcterms:W3CDTF">2026-09-23T07:06:11Z</dcterms:modified>
  <cp:category/>
</cp:coreProperties>
</file>